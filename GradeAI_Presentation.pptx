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93" d="100"/>
          <a:sy n="93" d="100"/>
        </p:scale>
        <p:origin x="500" y="5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35968797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371600" y="-457200"/>
            <a:ext cx="4572000" cy="4572000"/>
          </a:xfrm>
          <a:prstGeom prst="ellipse">
            <a:avLst/>
          </a:prstGeom>
          <a:solidFill>
            <a:srgbClr val="818CF8">
              <a:alpha val="20000"/>
            </a:srgbClr>
          </a:solidFill>
          <a:ln w="12700">
            <a:solidFill>
              <a:srgbClr val="818CF8">
                <a:alpha val="20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858000" y="1828800"/>
            <a:ext cx="3657600" cy="3657600"/>
          </a:xfrm>
          <a:prstGeom prst="ellipse">
            <a:avLst/>
          </a:prstGeom>
          <a:solidFill>
            <a:srgbClr val="6EE7B7">
              <a:alpha val="15000"/>
            </a:srgbClr>
          </a:solidFill>
          <a:ln w="12700">
            <a:solidFill>
              <a:srgbClr val="6EE7B7">
                <a:alpha val="15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3840480" y="502920"/>
            <a:ext cx="1463040" cy="1280160"/>
          </a:xfrm>
          <a:prstGeom prst="roundRect">
            <a:avLst>
              <a:gd name="adj" fmla="val 12857"/>
            </a:avLst>
          </a:prstGeom>
          <a:solidFill>
            <a:srgbClr val="21262D"/>
          </a:solidFill>
          <a:ln w="12700">
            <a:solidFill>
              <a:srgbClr val="30363D"/>
            </a:solidFill>
            <a:prstDash val="solid"/>
          </a:ln>
          <a:effectLst>
            <a:outerShdw blurRad="127000" dist="38100" dir="8100000" algn="bl" rotWithShape="0">
              <a:srgbClr val="000000">
                <a:alpha val="30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3840480" y="502920"/>
            <a:ext cx="146304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000" dirty="0">
                <a:solidFill>
                  <a:srgbClr val="000000"/>
                </a:solidFill>
              </a:rPr>
              <a:t>🎓</a:t>
            </a:r>
            <a:endParaRPr lang="en-US" sz="4000" dirty="0"/>
          </a:p>
        </p:txBody>
      </p:sp>
      <p:sp>
        <p:nvSpPr>
          <p:cNvPr id="6" name="Text 4"/>
          <p:cNvSpPr/>
          <p:nvPr/>
        </p:nvSpPr>
        <p:spPr>
          <a:xfrm>
            <a:off x="914400" y="1920240"/>
            <a:ext cx="73152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6000" b="1" dirty="0">
                <a:solidFill>
                  <a:srgbClr val="FFFFFF"/>
                </a:solidFill>
                <a:effectLst>
                  <a:glow rad="127000">
                    <a:srgbClr val="6EE7B7">
                      <a:alpha val="30000"/>
                    </a:srgbClr>
                  </a:glow>
                </a:effectLst>
                <a:latin typeface="Calibri" pitchFamily="34" charset="0"/>
                <a:ea typeface="Calibri" pitchFamily="34" charset="-122"/>
                <a:cs typeface="Calibri" pitchFamily="34" charset="-120"/>
              </a:rPr>
              <a:t>GradeAI</a:t>
            </a:r>
            <a:endParaRPr lang="en-US" sz="6000" dirty="0"/>
          </a:p>
        </p:txBody>
      </p:sp>
      <p:sp>
        <p:nvSpPr>
          <p:cNvPr id="7" name="Text 5"/>
          <p:cNvSpPr/>
          <p:nvPr/>
        </p:nvSpPr>
        <p:spPr>
          <a:xfrm>
            <a:off x="914400" y="2880360"/>
            <a:ext cx="7315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AI-Powered Assignment Grading System</a:t>
            </a:r>
            <a:endParaRPr lang="en-US" sz="2000" dirty="0"/>
          </a:p>
        </p:txBody>
      </p:sp>
      <p:sp>
        <p:nvSpPr>
          <p:cNvPr id="8" name="Shape 6"/>
          <p:cNvSpPr/>
          <p:nvPr/>
        </p:nvSpPr>
        <p:spPr>
          <a:xfrm>
            <a:off x="1280160" y="3566160"/>
            <a:ext cx="2011680" cy="347472"/>
          </a:xfrm>
          <a:prstGeom prst="roundRect">
            <a:avLst>
              <a:gd name="adj" fmla="val 26316"/>
            </a:avLst>
          </a:prstGeom>
          <a:solidFill>
            <a:srgbClr val="818CF8">
              <a:alpha val="20000"/>
            </a:srgbClr>
          </a:solidFill>
          <a:ln w="12700">
            <a:solidFill>
              <a:srgbClr val="818CF8">
                <a:alpha val="60000"/>
              </a:srgbClr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280160" y="3566160"/>
            <a:ext cx="20116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818CF8"/>
                </a:solidFill>
              </a:rPr>
              <a:t>Google Classroom API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3474720" y="3566160"/>
            <a:ext cx="2011680" cy="347472"/>
          </a:xfrm>
          <a:prstGeom prst="roundRect">
            <a:avLst>
              <a:gd name="adj" fmla="val 26316"/>
            </a:avLst>
          </a:prstGeom>
          <a:solidFill>
            <a:srgbClr val="6EE7B7">
              <a:alpha val="20000"/>
            </a:srgbClr>
          </a:solidFill>
          <a:ln w="12700">
            <a:solidFill>
              <a:srgbClr val="6EE7B7">
                <a:alpha val="60000"/>
              </a:srgbClr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474720" y="3566160"/>
            <a:ext cx="20116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6EE7B7"/>
                </a:solidFill>
              </a:rPr>
              <a:t>Gemini AI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5669280" y="3566160"/>
            <a:ext cx="2011680" cy="347472"/>
          </a:xfrm>
          <a:prstGeom prst="roundRect">
            <a:avLst>
              <a:gd name="adj" fmla="val 26316"/>
            </a:avLst>
          </a:prstGeom>
          <a:solidFill>
            <a:srgbClr val="F59E0B">
              <a:alpha val="20000"/>
            </a:srgbClr>
          </a:solidFill>
          <a:ln w="12700">
            <a:solidFill>
              <a:srgbClr val="F59E0B">
                <a:alpha val="60000"/>
              </a:srgbClr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669280" y="3566160"/>
            <a:ext cx="20116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59E0B"/>
                </a:solidFill>
              </a:rPr>
              <a:t>Flask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914400" y="448056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8B949E"/>
                </a:solidFill>
              </a:rPr>
              <a:t>Presented by: </a:t>
            </a:r>
            <a:r>
              <a:rPr lang="en-US" sz="1100" dirty="0" smtClean="0">
                <a:solidFill>
                  <a:srgbClr val="8B949E"/>
                </a:solidFill>
              </a:rPr>
              <a:t>Shahzaib</a:t>
            </a:r>
            <a:r>
              <a:rPr lang="en-US" sz="1100" dirty="0" smtClean="0">
                <a:solidFill>
                  <a:srgbClr val="8B949E"/>
                </a:solidFill>
              </a:rPr>
              <a:t>  </a:t>
            </a:r>
            <a:r>
              <a:rPr lang="en-US" sz="1100" dirty="0">
                <a:solidFill>
                  <a:srgbClr val="8B949E"/>
                </a:solidFill>
              </a:rPr>
              <a:t>•  2026</a:t>
            </a:r>
            <a:endParaRPr lang="en-US" sz="11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400" dirty="0">
                <a:solidFill>
                  <a:srgbClr val="6EE7B7"/>
                </a:solidFill>
              </a:rPr>
              <a:t>THE PROBLEM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594360"/>
            <a:ext cx="8229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Manual Grading is Broken</a:t>
            </a:r>
            <a:endParaRPr lang="en-US" sz="3600" dirty="0"/>
          </a:p>
        </p:txBody>
      </p:sp>
      <p:sp>
        <p:nvSpPr>
          <p:cNvPr id="4" name="Shape 2"/>
          <p:cNvSpPr/>
          <p:nvPr/>
        </p:nvSpPr>
        <p:spPr>
          <a:xfrm>
            <a:off x="365760" y="1508760"/>
            <a:ext cx="2606040" cy="3200400"/>
          </a:xfrm>
          <a:prstGeom prst="rect">
            <a:avLst/>
          </a:prstGeom>
          <a:solidFill>
            <a:srgbClr val="21262D"/>
          </a:solidFill>
          <a:ln w="12700">
            <a:solidFill>
              <a:srgbClr val="30363D"/>
            </a:solidFill>
            <a:prstDash val="solid"/>
          </a:ln>
          <a:effectLst>
            <a:outerShdw blurRad="127000" dist="38100" dir="8100000" algn="bl" rotWithShape="0">
              <a:srgbClr val="000000">
                <a:alpha val="3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365760" y="1508760"/>
            <a:ext cx="2606040" cy="54864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65760" y="1691640"/>
            <a:ext cx="26060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dirty="0">
                <a:solidFill>
                  <a:srgbClr val="000000"/>
                </a:solidFill>
              </a:rPr>
              <a:t>⏰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502920" y="2377440"/>
            <a:ext cx="23317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</a:rPr>
              <a:t>Time Consuming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502920" y="2834640"/>
            <a:ext cx="2331720" cy="1645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150" dirty="0">
                <a:solidFill>
                  <a:srgbClr val="8B949E"/>
                </a:solidFill>
              </a:rPr>
              <a:t>Teachers spend hours manually reviewing each submission, leaving little time for actual teaching.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3200400" y="1508760"/>
            <a:ext cx="2606040" cy="3200400"/>
          </a:xfrm>
          <a:prstGeom prst="rect">
            <a:avLst/>
          </a:prstGeom>
          <a:solidFill>
            <a:srgbClr val="21262D"/>
          </a:solidFill>
          <a:ln w="12700">
            <a:solidFill>
              <a:srgbClr val="30363D"/>
            </a:solidFill>
            <a:prstDash val="solid"/>
          </a:ln>
          <a:effectLst>
            <a:outerShdw blurRad="127000" dist="38100" dir="8100000" algn="bl" rotWithShape="0">
              <a:srgbClr val="000000">
                <a:alpha val="30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3200400" y="1508760"/>
            <a:ext cx="2606040" cy="54864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200400" y="1691640"/>
            <a:ext cx="26060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dirty="0">
                <a:solidFill>
                  <a:srgbClr val="000000"/>
                </a:solidFill>
              </a:rPr>
              <a:t>⚖️</a:t>
            </a:r>
            <a:endParaRPr lang="en-US" sz="2800" dirty="0"/>
          </a:p>
        </p:txBody>
      </p:sp>
      <p:sp>
        <p:nvSpPr>
          <p:cNvPr id="12" name="Text 10"/>
          <p:cNvSpPr/>
          <p:nvPr/>
        </p:nvSpPr>
        <p:spPr>
          <a:xfrm>
            <a:off x="3337560" y="2377440"/>
            <a:ext cx="23317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</a:rPr>
              <a:t>Inconsistent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3337560" y="2834640"/>
            <a:ext cx="2331720" cy="1645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150" dirty="0">
                <a:solidFill>
                  <a:srgbClr val="8B949E"/>
                </a:solidFill>
              </a:rPr>
              <a:t>Human graders unconsciously apply different standards across students, creating unfair results.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6035040" y="1508760"/>
            <a:ext cx="2606040" cy="3200400"/>
          </a:xfrm>
          <a:prstGeom prst="rect">
            <a:avLst/>
          </a:prstGeom>
          <a:solidFill>
            <a:srgbClr val="21262D"/>
          </a:solidFill>
          <a:ln w="12700">
            <a:solidFill>
              <a:srgbClr val="30363D"/>
            </a:solidFill>
            <a:prstDash val="solid"/>
          </a:ln>
          <a:effectLst>
            <a:outerShdw blurRad="127000" dist="38100" dir="8100000" algn="bl" rotWithShape="0">
              <a:srgbClr val="000000">
                <a:alpha val="30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6035040" y="1508760"/>
            <a:ext cx="2606040" cy="54864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035040" y="1691640"/>
            <a:ext cx="26060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dirty="0">
                <a:solidFill>
                  <a:srgbClr val="000000"/>
                </a:solidFill>
              </a:rPr>
              <a:t>📉</a:t>
            </a:r>
            <a:endParaRPr lang="en-US" sz="2800" dirty="0"/>
          </a:p>
        </p:txBody>
      </p:sp>
      <p:sp>
        <p:nvSpPr>
          <p:cNvPr id="17" name="Text 15"/>
          <p:cNvSpPr/>
          <p:nvPr/>
        </p:nvSpPr>
        <p:spPr>
          <a:xfrm>
            <a:off x="6172200" y="2377440"/>
            <a:ext cx="23317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</a:rPr>
              <a:t>Delayed Feedback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6172200" y="2834640"/>
            <a:ext cx="2331720" cy="1645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150" dirty="0">
                <a:solidFill>
                  <a:srgbClr val="8B949E"/>
                </a:solidFill>
              </a:rPr>
              <a:t>Students wait days for feedback, slowing down their learning and improvement cycle.</a:t>
            </a:r>
            <a:endParaRPr lang="en-US" sz="115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400" dirty="0">
                <a:solidFill>
                  <a:srgbClr val="6EE7B7"/>
                </a:solidFill>
              </a:rPr>
              <a:t>OUR SOLUTION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594360"/>
            <a:ext cx="8229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GradeAI — Instant AI Grading</a:t>
            </a:r>
            <a:endParaRPr lang="en-US" sz="3600" dirty="0"/>
          </a:p>
        </p:txBody>
      </p:sp>
      <p:sp>
        <p:nvSpPr>
          <p:cNvPr id="4" name="Shape 2"/>
          <p:cNvSpPr/>
          <p:nvPr/>
        </p:nvSpPr>
        <p:spPr>
          <a:xfrm>
            <a:off x="457200" y="1508760"/>
            <a:ext cx="5029200" cy="457200"/>
          </a:xfrm>
          <a:prstGeom prst="rect">
            <a:avLst/>
          </a:prstGeom>
          <a:solidFill>
            <a:srgbClr val="21262D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40080" y="1508760"/>
            <a:ext cx="4754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E6EDF3"/>
                </a:solidFill>
              </a:rPr>
              <a:t>🤖  Gemini AI evaluates submissions across 5 rubric criteria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457200" y="2057400"/>
            <a:ext cx="5029200" cy="457200"/>
          </a:xfrm>
          <a:prstGeom prst="rect">
            <a:avLst/>
          </a:prstGeom>
          <a:solidFill>
            <a:srgbClr val="21262D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40080" y="2057400"/>
            <a:ext cx="4754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E6EDF3"/>
                </a:solidFill>
              </a:rPr>
              <a:t>📊  Rubric-based scoring with progress bars and ✓/✗ status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457200" y="2606040"/>
            <a:ext cx="5029200" cy="457200"/>
          </a:xfrm>
          <a:prstGeom prst="rect">
            <a:avLst/>
          </a:prstGeom>
          <a:solidFill>
            <a:srgbClr val="21262D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40080" y="2606040"/>
            <a:ext cx="4754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E6EDF3"/>
                </a:solidFill>
              </a:rPr>
              <a:t>🏫  </a:t>
            </a:r>
            <a:r>
              <a:rPr lang="en-US" sz="1200">
                <a:solidFill>
                  <a:srgbClr val="E6EDF3"/>
                </a:solidFill>
              </a:rPr>
              <a:t>Grades </a:t>
            </a:r>
            <a:r>
              <a:rPr lang="en-US" sz="1200" smtClean="0">
                <a:solidFill>
                  <a:srgbClr val="E6EDF3"/>
                </a:solidFill>
              </a:rPr>
              <a:t> </a:t>
            </a:r>
            <a:r>
              <a:rPr lang="en-US" sz="1200" dirty="0">
                <a:solidFill>
                  <a:srgbClr val="E6EDF3"/>
                </a:solidFill>
              </a:rPr>
              <a:t>posted back to Google Classroom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457200" y="3154680"/>
            <a:ext cx="5029200" cy="457200"/>
          </a:xfrm>
          <a:prstGeom prst="rect">
            <a:avLst/>
          </a:prstGeom>
          <a:solidFill>
            <a:srgbClr val="21262D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40080" y="3154680"/>
            <a:ext cx="4754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E6EDF3"/>
                </a:solidFill>
              </a:rPr>
              <a:t>💬  Detailed feedback: strengths, improvements, overall comments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457200" y="3703320"/>
            <a:ext cx="5029200" cy="457200"/>
          </a:xfrm>
          <a:prstGeom prst="rect">
            <a:avLst/>
          </a:prstGeom>
          <a:solidFill>
            <a:srgbClr val="21262D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40080" y="3703320"/>
            <a:ext cx="4754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E6EDF3"/>
                </a:solidFill>
              </a:rPr>
              <a:t>⚠️  Plagiarism flag detection built in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457200" y="4251960"/>
            <a:ext cx="5029200" cy="457200"/>
          </a:xfrm>
          <a:prstGeom prst="rect">
            <a:avLst/>
          </a:prstGeom>
          <a:solidFill>
            <a:srgbClr val="21262D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40080" y="4251960"/>
            <a:ext cx="4754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E6EDF3"/>
                </a:solidFill>
              </a:rPr>
              <a:t>📋  One-click copy of marks with full rubric breakdown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6400800" y="1371600"/>
            <a:ext cx="2103120" cy="2103120"/>
          </a:xfrm>
          <a:prstGeom prst="ellipse">
            <a:avLst/>
          </a:prstGeom>
          <a:solidFill>
            <a:srgbClr val="21262D"/>
          </a:solidFill>
          <a:ln w="101600">
            <a:solidFill>
              <a:srgbClr val="6EE7B7"/>
            </a:solidFill>
            <a:prstDash val="solid"/>
          </a:ln>
          <a:effectLst>
            <a:outerShdw blurRad="127000" dist="38100" dir="8100000" algn="bl" rotWithShape="0">
              <a:srgbClr val="000000">
                <a:alpha val="30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6400800" y="1371600"/>
            <a:ext cx="2103120" cy="2103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400" b="1" dirty="0">
                <a:solidFill>
                  <a:srgbClr val="6EE7B7"/>
                </a:solidFill>
              </a:rPr>
              <a:t>87</a:t>
            </a:r>
            <a:endParaRPr lang="en-US" sz="4400" dirty="0"/>
          </a:p>
          <a:p>
            <a:pPr marL="0" indent="0" algn="ctr">
              <a:buNone/>
            </a:pPr>
            <a:r>
              <a:rPr lang="en-US" sz="1800" dirty="0">
                <a:solidFill>
                  <a:srgbClr val="8B949E"/>
                </a:solidFill>
              </a:rPr>
              <a:t>A</a:t>
            </a:r>
            <a:endParaRPr lang="en-US" sz="4400" dirty="0"/>
          </a:p>
        </p:txBody>
      </p:sp>
      <p:sp>
        <p:nvSpPr>
          <p:cNvPr id="18" name="Text 16"/>
          <p:cNvSpPr/>
          <p:nvPr/>
        </p:nvSpPr>
        <p:spPr>
          <a:xfrm>
            <a:off x="5943600" y="3566160"/>
            <a:ext cx="3017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8B949E"/>
                </a:solidFill>
              </a:rPr>
              <a:t>AI Score out of 100</a:t>
            </a:r>
            <a:endParaRPr lang="en-US" sz="11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400" dirty="0">
                <a:solidFill>
                  <a:srgbClr val="6EE7B7"/>
                </a:solidFill>
              </a:rPr>
              <a:t>ARCHITECTURE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594360"/>
            <a:ext cx="8229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It Works</a:t>
            </a:r>
            <a:endParaRPr lang="en-US" sz="3600" dirty="0"/>
          </a:p>
        </p:txBody>
      </p:sp>
      <p:sp>
        <p:nvSpPr>
          <p:cNvPr id="4" name="Shape 2"/>
          <p:cNvSpPr/>
          <p:nvPr/>
        </p:nvSpPr>
        <p:spPr>
          <a:xfrm>
            <a:off x="548640" y="1828800"/>
            <a:ext cx="1554480" cy="1463040"/>
          </a:xfrm>
          <a:prstGeom prst="rect">
            <a:avLst/>
          </a:prstGeom>
          <a:solidFill>
            <a:srgbClr val="21262D"/>
          </a:solidFill>
          <a:ln w="25400">
            <a:solidFill>
              <a:srgbClr val="818CF8"/>
            </a:solidFill>
            <a:prstDash val="solid"/>
          </a:ln>
          <a:effectLst>
            <a:outerShdw blurRad="127000" dist="38100" dir="8100000" algn="bl" rotWithShape="0">
              <a:srgbClr val="000000">
                <a:alpha val="3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548640" y="1828800"/>
            <a:ext cx="1554480" cy="64008"/>
          </a:xfrm>
          <a:prstGeom prst="rect">
            <a:avLst/>
          </a:prstGeom>
          <a:solidFill>
            <a:srgbClr val="818CF8"/>
          </a:solidFill>
          <a:ln w="12700">
            <a:solidFill>
              <a:srgbClr val="818CF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48640" y="1920240"/>
            <a:ext cx="15544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dirty="0">
                <a:solidFill>
                  <a:srgbClr val="000000"/>
                </a:solidFill>
              </a:rPr>
              <a:t>📄</a:t>
            </a:r>
            <a:endParaRPr lang="en-US" sz="2600" dirty="0"/>
          </a:p>
        </p:txBody>
      </p:sp>
      <p:sp>
        <p:nvSpPr>
          <p:cNvPr id="7" name="Text 5"/>
          <p:cNvSpPr/>
          <p:nvPr/>
        </p:nvSpPr>
        <p:spPr>
          <a:xfrm>
            <a:off x="548640" y="2514600"/>
            <a:ext cx="1554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Student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Submission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548640" y="2999232"/>
            <a:ext cx="1554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8B949E"/>
                </a:solidFill>
              </a:rPr>
              <a:t>Google Drive PDF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2176272" y="2560320"/>
            <a:ext cx="667512" cy="0"/>
          </a:xfrm>
          <a:prstGeom prst="line">
            <a:avLst/>
          </a:prstGeom>
          <a:noFill/>
          <a:ln w="25400">
            <a:solidFill>
              <a:srgbClr val="8B949E"/>
            </a:solidFill>
            <a:prstDash val="sysDot"/>
          </a:ln>
        </p:spPr>
      </p:sp>
      <p:sp>
        <p:nvSpPr>
          <p:cNvPr id="10" name="Text 8"/>
          <p:cNvSpPr/>
          <p:nvPr/>
        </p:nvSpPr>
        <p:spPr>
          <a:xfrm>
            <a:off x="2633472" y="2395728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8B949E"/>
                </a:solidFill>
              </a:rPr>
              <a:t>▶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2880360" y="1828800"/>
            <a:ext cx="1554480" cy="1463040"/>
          </a:xfrm>
          <a:prstGeom prst="rect">
            <a:avLst/>
          </a:prstGeom>
          <a:solidFill>
            <a:srgbClr val="21262D"/>
          </a:solidFill>
          <a:ln w="25400">
            <a:solidFill>
              <a:srgbClr val="818CF8"/>
            </a:solidFill>
            <a:prstDash val="solid"/>
          </a:ln>
          <a:effectLst>
            <a:outerShdw blurRad="127000" dist="38100" dir="8100000" algn="bl" rotWithShape="0">
              <a:srgbClr val="000000">
                <a:alpha val="30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2880360" y="1828800"/>
            <a:ext cx="1554480" cy="64008"/>
          </a:xfrm>
          <a:prstGeom prst="rect">
            <a:avLst/>
          </a:prstGeom>
          <a:solidFill>
            <a:srgbClr val="818CF8"/>
          </a:solidFill>
          <a:ln w="12700">
            <a:solidFill>
              <a:srgbClr val="818CF8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2880360" y="1920240"/>
            <a:ext cx="15544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dirty="0">
                <a:solidFill>
                  <a:srgbClr val="000000"/>
                </a:solidFill>
              </a:rPr>
              <a:t>🏫</a:t>
            </a:r>
            <a:endParaRPr lang="en-US" sz="2600" dirty="0"/>
          </a:p>
        </p:txBody>
      </p:sp>
      <p:sp>
        <p:nvSpPr>
          <p:cNvPr id="14" name="Text 12"/>
          <p:cNvSpPr/>
          <p:nvPr/>
        </p:nvSpPr>
        <p:spPr>
          <a:xfrm>
            <a:off x="2880360" y="2514600"/>
            <a:ext cx="1554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Classroom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API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2880360" y="2999232"/>
            <a:ext cx="1554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8B949E"/>
                </a:solidFill>
              </a:rPr>
              <a:t>Fetch submissions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4507992" y="2560320"/>
            <a:ext cx="667512" cy="0"/>
          </a:xfrm>
          <a:prstGeom prst="line">
            <a:avLst/>
          </a:prstGeom>
          <a:noFill/>
          <a:ln w="25400">
            <a:solidFill>
              <a:srgbClr val="8B949E"/>
            </a:solidFill>
            <a:prstDash val="sysDot"/>
          </a:ln>
        </p:spPr>
      </p:sp>
      <p:sp>
        <p:nvSpPr>
          <p:cNvPr id="17" name="Text 15"/>
          <p:cNvSpPr/>
          <p:nvPr/>
        </p:nvSpPr>
        <p:spPr>
          <a:xfrm>
            <a:off x="4965192" y="2395728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8B949E"/>
                </a:solidFill>
              </a:rPr>
              <a:t>▶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5212080" y="1828800"/>
            <a:ext cx="1554480" cy="1463040"/>
          </a:xfrm>
          <a:prstGeom prst="rect">
            <a:avLst/>
          </a:prstGeom>
          <a:solidFill>
            <a:srgbClr val="21262D"/>
          </a:solidFill>
          <a:ln w="25400">
            <a:solidFill>
              <a:srgbClr val="6EE7B7"/>
            </a:solidFill>
            <a:prstDash val="solid"/>
          </a:ln>
          <a:effectLst>
            <a:outerShdw blurRad="127000" dist="38100" dir="8100000" algn="bl" rotWithShape="0">
              <a:srgbClr val="000000">
                <a:alpha val="30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5212080" y="1828800"/>
            <a:ext cx="1554480" cy="64008"/>
          </a:xfrm>
          <a:prstGeom prst="rect">
            <a:avLst/>
          </a:prstGeom>
          <a:solidFill>
            <a:srgbClr val="6EE7B7"/>
          </a:solidFill>
          <a:ln w="12700">
            <a:solidFill>
              <a:srgbClr val="6EE7B7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212080" y="1920240"/>
            <a:ext cx="15544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dirty="0">
                <a:solidFill>
                  <a:srgbClr val="000000"/>
                </a:solidFill>
              </a:rPr>
              <a:t>🤖</a:t>
            </a:r>
            <a:endParaRPr lang="en-US" sz="2600" dirty="0"/>
          </a:p>
        </p:txBody>
      </p:sp>
      <p:sp>
        <p:nvSpPr>
          <p:cNvPr id="21" name="Text 19"/>
          <p:cNvSpPr/>
          <p:nvPr/>
        </p:nvSpPr>
        <p:spPr>
          <a:xfrm>
            <a:off x="5212080" y="2514600"/>
            <a:ext cx="1554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Gemini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AI API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5212080" y="2999232"/>
            <a:ext cx="1554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8B949E"/>
                </a:solidFill>
              </a:rPr>
              <a:t>Grade &amp; evaluate</a:t>
            </a:r>
            <a:endParaRPr lang="en-US" sz="950" dirty="0"/>
          </a:p>
        </p:txBody>
      </p:sp>
      <p:sp>
        <p:nvSpPr>
          <p:cNvPr id="23" name="Shape 21"/>
          <p:cNvSpPr/>
          <p:nvPr/>
        </p:nvSpPr>
        <p:spPr>
          <a:xfrm>
            <a:off x="6839712" y="2560320"/>
            <a:ext cx="667512" cy="0"/>
          </a:xfrm>
          <a:prstGeom prst="line">
            <a:avLst/>
          </a:prstGeom>
          <a:noFill/>
          <a:ln w="25400">
            <a:solidFill>
              <a:srgbClr val="8B949E"/>
            </a:solidFill>
            <a:prstDash val="sysDot"/>
          </a:ln>
        </p:spPr>
      </p:sp>
      <p:sp>
        <p:nvSpPr>
          <p:cNvPr id="24" name="Text 22"/>
          <p:cNvSpPr/>
          <p:nvPr/>
        </p:nvSpPr>
        <p:spPr>
          <a:xfrm>
            <a:off x="7296912" y="2395728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8B949E"/>
                </a:solidFill>
              </a:rPr>
              <a:t>▶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7543800" y="1828800"/>
            <a:ext cx="1554480" cy="1463040"/>
          </a:xfrm>
          <a:prstGeom prst="rect">
            <a:avLst/>
          </a:prstGeom>
          <a:solidFill>
            <a:srgbClr val="21262D"/>
          </a:solidFill>
          <a:ln w="25400">
            <a:solidFill>
              <a:srgbClr val="22C55E"/>
            </a:solidFill>
            <a:prstDash val="solid"/>
          </a:ln>
          <a:effectLst>
            <a:outerShdw blurRad="127000" dist="38100" dir="8100000" algn="bl" rotWithShape="0">
              <a:srgbClr val="000000">
                <a:alpha val="30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7543800" y="1828800"/>
            <a:ext cx="1554480" cy="64008"/>
          </a:xfrm>
          <a:prstGeom prst="rect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7543800" y="1920240"/>
            <a:ext cx="15544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dirty="0">
                <a:solidFill>
                  <a:srgbClr val="000000"/>
                </a:solidFill>
              </a:rPr>
              <a:t>✅</a:t>
            </a:r>
            <a:endParaRPr lang="en-US" sz="2600" dirty="0"/>
          </a:p>
        </p:txBody>
      </p:sp>
      <p:sp>
        <p:nvSpPr>
          <p:cNvPr id="28" name="Text 26"/>
          <p:cNvSpPr/>
          <p:nvPr/>
        </p:nvSpPr>
        <p:spPr>
          <a:xfrm>
            <a:off x="7543800" y="2514600"/>
            <a:ext cx="1554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Post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Grades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7543800" y="2999232"/>
            <a:ext cx="1554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8B949E"/>
                </a:solidFill>
              </a:rPr>
              <a:t>Back to Classroom</a:t>
            </a:r>
            <a:endParaRPr lang="en-US" sz="950" dirty="0"/>
          </a:p>
        </p:txBody>
      </p:sp>
      <p:sp>
        <p:nvSpPr>
          <p:cNvPr id="30" name="Shape 28"/>
          <p:cNvSpPr/>
          <p:nvPr/>
        </p:nvSpPr>
        <p:spPr>
          <a:xfrm>
            <a:off x="594360" y="4480560"/>
            <a:ext cx="1234440" cy="310896"/>
          </a:xfrm>
          <a:prstGeom prst="roundRect">
            <a:avLst>
              <a:gd name="adj" fmla="val 23529"/>
            </a:avLst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594360" y="4480560"/>
            <a:ext cx="12344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8B949E"/>
                </a:solidFill>
              </a:rPr>
              <a:t>Python 3</a:t>
            </a:r>
            <a:endParaRPr lang="en-US" sz="900" dirty="0"/>
          </a:p>
        </p:txBody>
      </p:sp>
      <p:sp>
        <p:nvSpPr>
          <p:cNvPr id="32" name="Shape 30"/>
          <p:cNvSpPr/>
          <p:nvPr/>
        </p:nvSpPr>
        <p:spPr>
          <a:xfrm>
            <a:off x="1920240" y="4480560"/>
            <a:ext cx="1234440" cy="310896"/>
          </a:xfrm>
          <a:prstGeom prst="roundRect">
            <a:avLst>
              <a:gd name="adj" fmla="val 23529"/>
            </a:avLst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1920240" y="4480560"/>
            <a:ext cx="12344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8B949E"/>
                </a:solidFill>
              </a:rPr>
              <a:t>Flask</a:t>
            </a:r>
            <a:endParaRPr lang="en-US" sz="900" dirty="0"/>
          </a:p>
        </p:txBody>
      </p:sp>
      <p:sp>
        <p:nvSpPr>
          <p:cNvPr id="34" name="Shape 32"/>
          <p:cNvSpPr/>
          <p:nvPr/>
        </p:nvSpPr>
        <p:spPr>
          <a:xfrm>
            <a:off x="3246120" y="4480560"/>
            <a:ext cx="1234440" cy="310896"/>
          </a:xfrm>
          <a:prstGeom prst="roundRect">
            <a:avLst>
              <a:gd name="adj" fmla="val 23529"/>
            </a:avLst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3246120" y="4480560"/>
            <a:ext cx="12344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8B949E"/>
                </a:solidFill>
              </a:rPr>
              <a:t>Google Classroom API</a:t>
            </a:r>
            <a:endParaRPr lang="en-US" sz="900" dirty="0"/>
          </a:p>
        </p:txBody>
      </p:sp>
      <p:sp>
        <p:nvSpPr>
          <p:cNvPr id="36" name="Shape 34"/>
          <p:cNvSpPr/>
          <p:nvPr/>
        </p:nvSpPr>
        <p:spPr>
          <a:xfrm>
            <a:off x="4572000" y="4480560"/>
            <a:ext cx="1234440" cy="310896"/>
          </a:xfrm>
          <a:prstGeom prst="roundRect">
            <a:avLst>
              <a:gd name="adj" fmla="val 23529"/>
            </a:avLst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4572000" y="4480560"/>
            <a:ext cx="12344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8B949E"/>
                </a:solidFill>
              </a:rPr>
              <a:t>Google Drive API</a:t>
            </a:r>
            <a:endParaRPr lang="en-US" sz="900" dirty="0"/>
          </a:p>
        </p:txBody>
      </p:sp>
      <p:sp>
        <p:nvSpPr>
          <p:cNvPr id="38" name="Shape 36"/>
          <p:cNvSpPr/>
          <p:nvPr/>
        </p:nvSpPr>
        <p:spPr>
          <a:xfrm>
            <a:off x="5897880" y="4480560"/>
            <a:ext cx="1234440" cy="310896"/>
          </a:xfrm>
          <a:prstGeom prst="roundRect">
            <a:avLst>
              <a:gd name="adj" fmla="val 23529"/>
            </a:avLst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5897880" y="4480560"/>
            <a:ext cx="12344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8B949E"/>
                </a:solidFill>
              </a:rPr>
              <a:t>Gemini 2.5 Flash</a:t>
            </a:r>
            <a:endParaRPr lang="en-US" sz="900" dirty="0"/>
          </a:p>
        </p:txBody>
      </p:sp>
      <p:sp>
        <p:nvSpPr>
          <p:cNvPr id="40" name="Shape 38"/>
          <p:cNvSpPr/>
          <p:nvPr/>
        </p:nvSpPr>
        <p:spPr>
          <a:xfrm>
            <a:off x="7223760" y="4480560"/>
            <a:ext cx="1234440" cy="310896"/>
          </a:xfrm>
          <a:prstGeom prst="roundRect">
            <a:avLst>
              <a:gd name="adj" fmla="val 23529"/>
            </a:avLst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7223760" y="4480560"/>
            <a:ext cx="12344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8B949E"/>
                </a:solidFill>
              </a:rPr>
              <a:t>OAuth 2.0</a:t>
            </a:r>
            <a:endParaRPr lang="en-US" sz="9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400" dirty="0">
                <a:solidFill>
                  <a:srgbClr val="6EE7B7"/>
                </a:solidFill>
              </a:rPr>
              <a:t>GRADING CRITERIA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594360"/>
            <a:ext cx="54864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5-Point Rubric Evaluation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457200" y="1508760"/>
            <a:ext cx="2560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E6EDF3"/>
                </a:solidFill>
              </a:rPr>
              <a:t>Content Accuracy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3108960" y="1554480"/>
            <a:ext cx="3840480" cy="237744"/>
          </a:xfrm>
          <a:prstGeom prst="rect">
            <a:avLst/>
          </a:prstGeom>
          <a:solidFill>
            <a:srgbClr val="21262D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108960" y="1554480"/>
            <a:ext cx="3072384" cy="237744"/>
          </a:xfrm>
          <a:prstGeom prst="rect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309360" y="1508760"/>
            <a:ext cx="777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200" b="1" dirty="0">
                <a:solidFill>
                  <a:srgbClr val="22C55E"/>
                </a:solidFill>
              </a:rPr>
              <a:t>24/30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457200" y="2167128"/>
            <a:ext cx="2560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E6EDF3"/>
                </a:solidFill>
              </a:rPr>
              <a:t>Depth of Analysis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3108960" y="2212848"/>
            <a:ext cx="3840480" cy="237744"/>
          </a:xfrm>
          <a:prstGeom prst="rect">
            <a:avLst/>
          </a:prstGeom>
          <a:solidFill>
            <a:srgbClr val="21262D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3108960" y="2212848"/>
            <a:ext cx="2765146" cy="237744"/>
          </a:xfrm>
          <a:prstGeom prst="rect">
            <a:avLst/>
          </a:prstGeom>
          <a:solidFill>
            <a:srgbClr val="6EE7B7"/>
          </a:solidFill>
          <a:ln w="12700">
            <a:solidFill>
              <a:srgbClr val="6EE7B7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309360" y="2167128"/>
            <a:ext cx="777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200" b="1" dirty="0">
                <a:solidFill>
                  <a:srgbClr val="6EE7B7"/>
                </a:solidFill>
              </a:rPr>
              <a:t>18/25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457200" y="2825496"/>
            <a:ext cx="2560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E6EDF3"/>
                </a:solidFill>
              </a:rPr>
              <a:t>Structure &amp; Clarity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3108960" y="2871216"/>
            <a:ext cx="3840480" cy="237744"/>
          </a:xfrm>
          <a:prstGeom prst="rect">
            <a:avLst/>
          </a:prstGeom>
          <a:solidFill>
            <a:srgbClr val="21262D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3108960" y="2871216"/>
            <a:ext cx="3072384" cy="237744"/>
          </a:xfrm>
          <a:prstGeom prst="rect">
            <a:avLst/>
          </a:prstGeom>
          <a:solidFill>
            <a:srgbClr val="818CF8"/>
          </a:solidFill>
          <a:ln w="12700">
            <a:solidFill>
              <a:srgbClr val="818CF8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309360" y="2825496"/>
            <a:ext cx="777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200" b="1" dirty="0">
                <a:solidFill>
                  <a:srgbClr val="818CF8"/>
                </a:solidFill>
              </a:rPr>
              <a:t>16/20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457200" y="3483864"/>
            <a:ext cx="2560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E6EDF3"/>
                </a:solidFill>
              </a:rPr>
              <a:t>Language Expression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3108960" y="3529584"/>
            <a:ext cx="3840480" cy="237744"/>
          </a:xfrm>
          <a:prstGeom prst="rect">
            <a:avLst/>
          </a:prstGeom>
          <a:solidFill>
            <a:srgbClr val="21262D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3108960" y="3529584"/>
            <a:ext cx="2816352" cy="237744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309360" y="3483864"/>
            <a:ext cx="777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200" b="1" dirty="0">
                <a:solidFill>
                  <a:srgbClr val="F59E0B"/>
                </a:solidFill>
              </a:rPr>
              <a:t>11/15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457200" y="4142232"/>
            <a:ext cx="2560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E6EDF3"/>
                </a:solidFill>
              </a:rPr>
              <a:t>Originality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3108960" y="4187952"/>
            <a:ext cx="3840480" cy="237744"/>
          </a:xfrm>
          <a:prstGeom prst="rect">
            <a:avLst/>
          </a:prstGeom>
          <a:solidFill>
            <a:srgbClr val="21262D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3108960" y="4187952"/>
            <a:ext cx="2688336" cy="237744"/>
          </a:xfrm>
          <a:prstGeom prst="rect">
            <a:avLst/>
          </a:prstGeom>
          <a:solidFill>
            <a:srgbClr val="F472B6"/>
          </a:solidFill>
          <a:ln w="12700">
            <a:solidFill>
              <a:srgbClr val="F472B6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309360" y="4142232"/>
            <a:ext cx="777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200" b="1" dirty="0">
                <a:solidFill>
                  <a:srgbClr val="F472B6"/>
                </a:solidFill>
              </a:rPr>
              <a:t>7/10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7406640" y="1828800"/>
            <a:ext cx="1554480" cy="1554480"/>
          </a:xfrm>
          <a:prstGeom prst="ellipse">
            <a:avLst/>
          </a:prstGeom>
          <a:solidFill>
            <a:srgbClr val="21262D"/>
          </a:solidFill>
          <a:ln w="76200">
            <a:solidFill>
              <a:srgbClr val="6EE7B7"/>
            </a:solidFill>
            <a:prstDash val="solid"/>
          </a:ln>
          <a:effectLst>
            <a:outerShdw blurRad="127000" dist="38100" dir="8100000" algn="bl" rotWithShape="0">
              <a:srgbClr val="000000">
                <a:alpha val="30000"/>
              </a:srgbClr>
            </a:outerShdw>
          </a:effectLst>
        </p:spPr>
      </p:sp>
      <p:sp>
        <p:nvSpPr>
          <p:cNvPr id="25" name="Text 23"/>
          <p:cNvSpPr/>
          <p:nvPr/>
        </p:nvSpPr>
        <p:spPr>
          <a:xfrm>
            <a:off x="7406640" y="1828800"/>
            <a:ext cx="1554480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6EE7B7"/>
                </a:solidFill>
              </a:rPr>
              <a:t>76</a:t>
            </a:r>
            <a:endParaRPr lang="en-US" sz="3200" dirty="0"/>
          </a:p>
          <a:p>
            <a:pPr marL="0" indent="0" algn="ctr">
              <a:buNone/>
            </a:pPr>
            <a:r>
              <a:rPr lang="en-US" sz="1300" dirty="0">
                <a:solidFill>
                  <a:srgbClr val="8B949E"/>
                </a:solidFill>
              </a:rPr>
              <a:t>B+</a:t>
            </a:r>
            <a:endParaRPr lang="en-US" sz="3200" dirty="0"/>
          </a:p>
        </p:txBody>
      </p:sp>
      <p:sp>
        <p:nvSpPr>
          <p:cNvPr id="26" name="Text 24"/>
          <p:cNvSpPr/>
          <p:nvPr/>
        </p:nvSpPr>
        <p:spPr>
          <a:xfrm>
            <a:off x="7223760" y="3474720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8B949E"/>
                </a:solidFill>
              </a:rPr>
              <a:t>Sample Score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457200" y="466344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8B949E"/>
                </a:solidFill>
              </a:rPr>
              <a:t>✓  Passed criteria (≥50%)     ✗  Needs improvement (&lt;50%)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400" dirty="0">
                <a:solidFill>
                  <a:srgbClr val="6EE7B7"/>
                </a:solidFill>
              </a:rPr>
              <a:t>KEY FEATURES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594360"/>
            <a:ext cx="8229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Makes GradeAI Powerful</a:t>
            </a:r>
            <a:endParaRPr lang="en-US" sz="3600" dirty="0"/>
          </a:p>
        </p:txBody>
      </p:sp>
      <p:sp>
        <p:nvSpPr>
          <p:cNvPr id="4" name="Shape 2"/>
          <p:cNvSpPr/>
          <p:nvPr/>
        </p:nvSpPr>
        <p:spPr>
          <a:xfrm>
            <a:off x="365760" y="1554480"/>
            <a:ext cx="2606040" cy="1508760"/>
          </a:xfrm>
          <a:prstGeom prst="rect">
            <a:avLst/>
          </a:prstGeom>
          <a:solidFill>
            <a:srgbClr val="21262D"/>
          </a:solidFill>
          <a:ln w="12700">
            <a:solidFill>
              <a:srgbClr val="30363D"/>
            </a:solidFill>
            <a:prstDash val="solid"/>
          </a:ln>
          <a:effectLst>
            <a:outerShdw blurRad="127000" dist="38100" dir="8100000" algn="bl" rotWithShape="0">
              <a:srgbClr val="000000">
                <a:alpha val="3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365760" y="1554480"/>
            <a:ext cx="54864" cy="1508760"/>
          </a:xfrm>
          <a:prstGeom prst="rect">
            <a:avLst/>
          </a:prstGeom>
          <a:solidFill>
            <a:srgbClr val="818CF8"/>
          </a:solidFill>
          <a:ln w="12700">
            <a:solidFill>
              <a:srgbClr val="818CF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02920" y="1664208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000000"/>
                </a:solidFill>
              </a:rPr>
              <a:t>🔐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1024128" y="1664208"/>
            <a:ext cx="1828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</a:rPr>
              <a:t>Google OAuth Login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502920" y="2121408"/>
            <a:ext cx="233172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8B949E"/>
                </a:solidFill>
              </a:rPr>
              <a:t>Secure sign-in using teacher's Google account. No separate registration needed.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3200400" y="1554480"/>
            <a:ext cx="2606040" cy="1508760"/>
          </a:xfrm>
          <a:prstGeom prst="rect">
            <a:avLst/>
          </a:prstGeom>
          <a:solidFill>
            <a:srgbClr val="21262D"/>
          </a:solidFill>
          <a:ln w="12700">
            <a:solidFill>
              <a:srgbClr val="30363D"/>
            </a:solidFill>
            <a:prstDash val="solid"/>
          </a:ln>
          <a:effectLst>
            <a:outerShdw blurRad="127000" dist="38100" dir="8100000" algn="bl" rotWithShape="0">
              <a:srgbClr val="000000">
                <a:alpha val="30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3200400" y="1554480"/>
            <a:ext cx="54864" cy="1508760"/>
          </a:xfrm>
          <a:prstGeom prst="rect">
            <a:avLst/>
          </a:prstGeom>
          <a:solidFill>
            <a:srgbClr val="6EE7B7"/>
          </a:solidFill>
          <a:ln w="12700">
            <a:solidFill>
              <a:srgbClr val="6EE7B7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337560" y="1664208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000000"/>
                </a:solidFill>
              </a:rPr>
              <a:t>📚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3858768" y="1664208"/>
            <a:ext cx="1828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</a:rPr>
              <a:t>Multi-Course Support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3337560" y="2121408"/>
            <a:ext cx="233172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8B949E"/>
                </a:solidFill>
              </a:rPr>
              <a:t>Browse all active Google Classroom courses and assignments from one dashboard.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6035040" y="1554480"/>
            <a:ext cx="2606040" cy="1508760"/>
          </a:xfrm>
          <a:prstGeom prst="rect">
            <a:avLst/>
          </a:prstGeom>
          <a:solidFill>
            <a:srgbClr val="21262D"/>
          </a:solidFill>
          <a:ln w="12700">
            <a:solidFill>
              <a:srgbClr val="30363D"/>
            </a:solidFill>
            <a:prstDash val="solid"/>
          </a:ln>
          <a:effectLst>
            <a:outerShdw blurRad="127000" dist="38100" dir="8100000" algn="bl" rotWithShape="0">
              <a:srgbClr val="000000">
                <a:alpha val="30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6035040" y="1554480"/>
            <a:ext cx="54864" cy="1508760"/>
          </a:xfrm>
          <a:prstGeom prst="rect">
            <a:avLst/>
          </a:prstGeom>
          <a:solidFill>
            <a:srgbClr val="F472B6"/>
          </a:solidFill>
          <a:ln w="12700">
            <a:solidFill>
              <a:srgbClr val="F472B6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172200" y="1664208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000000"/>
                </a:solidFill>
              </a:rPr>
              <a:t>🤖</a:t>
            </a:r>
            <a:endParaRPr lang="en-US" sz="2200" dirty="0"/>
          </a:p>
        </p:txBody>
      </p:sp>
      <p:sp>
        <p:nvSpPr>
          <p:cNvPr id="17" name="Text 15"/>
          <p:cNvSpPr/>
          <p:nvPr/>
        </p:nvSpPr>
        <p:spPr>
          <a:xfrm>
            <a:off x="6693408" y="1664208"/>
            <a:ext cx="1828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</a:rPr>
              <a:t>Gemini 2.5 Flash AI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6172200" y="2121408"/>
            <a:ext cx="233172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8B949E"/>
                </a:solidFill>
              </a:rPr>
              <a:t>State-of-the-art AI model grades submissions with structured JSON rubric output.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365760" y="3246120"/>
            <a:ext cx="2606040" cy="1508760"/>
          </a:xfrm>
          <a:prstGeom prst="rect">
            <a:avLst/>
          </a:prstGeom>
          <a:solidFill>
            <a:srgbClr val="21262D"/>
          </a:solidFill>
          <a:ln w="12700">
            <a:solidFill>
              <a:srgbClr val="30363D"/>
            </a:solidFill>
            <a:prstDash val="solid"/>
          </a:ln>
          <a:effectLst>
            <a:outerShdw blurRad="127000" dist="38100" dir="8100000" algn="bl" rotWithShape="0">
              <a:srgbClr val="000000">
                <a:alpha val="30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365760" y="3246120"/>
            <a:ext cx="54864" cy="1508760"/>
          </a:xfrm>
          <a:prstGeom prst="rect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02920" y="3355848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000000"/>
                </a:solidFill>
              </a:rPr>
              <a:t>📊</a:t>
            </a:r>
            <a:endParaRPr lang="en-US" sz="2200" dirty="0"/>
          </a:p>
        </p:txBody>
      </p:sp>
      <p:sp>
        <p:nvSpPr>
          <p:cNvPr id="22" name="Text 20"/>
          <p:cNvSpPr/>
          <p:nvPr/>
        </p:nvSpPr>
        <p:spPr>
          <a:xfrm>
            <a:off x="1024128" y="3355848"/>
            <a:ext cx="1828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</a:rPr>
              <a:t>Auto Grade Sync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502920" y="3813048"/>
            <a:ext cx="233172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8B949E"/>
                </a:solidFill>
              </a:rPr>
              <a:t>AI grades are automatically posted back to Google Classroom gradebook in real time.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3200400" y="3246120"/>
            <a:ext cx="2606040" cy="1508760"/>
          </a:xfrm>
          <a:prstGeom prst="rect">
            <a:avLst/>
          </a:prstGeom>
          <a:solidFill>
            <a:srgbClr val="21262D"/>
          </a:solidFill>
          <a:ln w="12700">
            <a:solidFill>
              <a:srgbClr val="30363D"/>
            </a:solidFill>
            <a:prstDash val="solid"/>
          </a:ln>
          <a:effectLst>
            <a:outerShdw blurRad="127000" dist="38100" dir="8100000" algn="bl" rotWithShape="0">
              <a:srgbClr val="000000">
                <a:alpha val="30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3200400" y="3246120"/>
            <a:ext cx="54864" cy="150876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3337560" y="3355848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000000"/>
                </a:solidFill>
              </a:rPr>
              <a:t>📄</a:t>
            </a:r>
            <a:endParaRPr lang="en-US" sz="2200" dirty="0"/>
          </a:p>
        </p:txBody>
      </p:sp>
      <p:sp>
        <p:nvSpPr>
          <p:cNvPr id="27" name="Text 25"/>
          <p:cNvSpPr/>
          <p:nvPr/>
        </p:nvSpPr>
        <p:spPr>
          <a:xfrm>
            <a:off x="3858768" y="3355848"/>
            <a:ext cx="1828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</a:rPr>
              <a:t>PDF &amp; Text Support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3337560" y="3813048"/>
            <a:ext cx="233172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8B949E"/>
                </a:solidFill>
              </a:rPr>
              <a:t>Extracts and reads student submissions from PDF files and plain text documents.</a:t>
            </a:r>
            <a:endParaRPr lang="en-US" sz="1050" dirty="0"/>
          </a:p>
        </p:txBody>
      </p:sp>
      <p:sp>
        <p:nvSpPr>
          <p:cNvPr id="29" name="Shape 27"/>
          <p:cNvSpPr/>
          <p:nvPr/>
        </p:nvSpPr>
        <p:spPr>
          <a:xfrm>
            <a:off x="6035040" y="3246120"/>
            <a:ext cx="2606040" cy="1508760"/>
          </a:xfrm>
          <a:prstGeom prst="rect">
            <a:avLst/>
          </a:prstGeom>
          <a:solidFill>
            <a:srgbClr val="21262D"/>
          </a:solidFill>
          <a:ln w="12700">
            <a:solidFill>
              <a:srgbClr val="30363D"/>
            </a:solidFill>
            <a:prstDash val="solid"/>
          </a:ln>
          <a:effectLst>
            <a:outerShdw blurRad="127000" dist="38100" dir="8100000" algn="bl" rotWithShape="0">
              <a:srgbClr val="000000">
                <a:alpha val="30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6035040" y="3246120"/>
            <a:ext cx="54864" cy="1508760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6172200" y="3355848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000000"/>
                </a:solidFill>
              </a:rPr>
              <a:t>📋</a:t>
            </a:r>
            <a:endParaRPr lang="en-US" sz="2200" dirty="0"/>
          </a:p>
        </p:txBody>
      </p:sp>
      <p:sp>
        <p:nvSpPr>
          <p:cNvPr id="32" name="Text 30"/>
          <p:cNvSpPr/>
          <p:nvPr/>
        </p:nvSpPr>
        <p:spPr>
          <a:xfrm>
            <a:off x="6693408" y="3355848"/>
            <a:ext cx="1828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</a:rPr>
              <a:t>Copy Marks Feature</a:t>
            </a:r>
            <a:endParaRPr lang="en-US" sz="1200" dirty="0"/>
          </a:p>
        </p:txBody>
      </p:sp>
      <p:sp>
        <p:nvSpPr>
          <p:cNvPr id="33" name="Text 31"/>
          <p:cNvSpPr/>
          <p:nvPr/>
        </p:nvSpPr>
        <p:spPr>
          <a:xfrm>
            <a:off x="6172200" y="3813048"/>
            <a:ext cx="233172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8B949E"/>
                </a:solidFill>
              </a:rPr>
              <a:t>One-click clipboard copy of student name, marks, grade, and full rubric breakdown.</a:t>
            </a:r>
            <a:endParaRPr lang="en-US" sz="10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400" dirty="0">
                <a:solidFill>
                  <a:srgbClr val="6EE7B7"/>
                </a:solidFill>
              </a:rPr>
              <a:t>LIVE DEMO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594360"/>
            <a:ext cx="8229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Demo Flow</a:t>
            </a:r>
            <a:endParaRPr lang="en-US" sz="3600" dirty="0"/>
          </a:p>
        </p:txBody>
      </p:sp>
      <p:sp>
        <p:nvSpPr>
          <p:cNvPr id="4" name="Shape 2"/>
          <p:cNvSpPr/>
          <p:nvPr/>
        </p:nvSpPr>
        <p:spPr>
          <a:xfrm>
            <a:off x="365760" y="1527048"/>
            <a:ext cx="411480" cy="411480"/>
          </a:xfrm>
          <a:prstGeom prst="ellipse">
            <a:avLst/>
          </a:prstGeom>
          <a:solidFill>
            <a:srgbClr val="818CF8"/>
          </a:solidFill>
          <a:ln w="12700">
            <a:solidFill>
              <a:srgbClr val="818CF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65760" y="1527048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01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562356" y="1947672"/>
            <a:ext cx="0" cy="256032"/>
          </a:xfrm>
          <a:prstGeom prst="line">
            <a:avLst/>
          </a:prstGeom>
          <a:noFill/>
          <a:ln w="19050">
            <a:solidFill>
              <a:srgbClr val="30363D"/>
            </a:solidFill>
            <a:prstDash val="sysDot"/>
          </a:ln>
        </p:spPr>
      </p:sp>
      <p:sp>
        <p:nvSpPr>
          <p:cNvPr id="7" name="Text 5"/>
          <p:cNvSpPr/>
          <p:nvPr/>
        </p:nvSpPr>
        <p:spPr>
          <a:xfrm>
            <a:off x="960120" y="1508760"/>
            <a:ext cx="3474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</a:rPr>
              <a:t>Login with Google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960120" y="1801368"/>
            <a:ext cx="7772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8B949E"/>
                </a:solidFill>
              </a:rPr>
              <a:t>Teacher signs in with Google OAuth — all Classroom courses load automatically.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365760" y="2185416"/>
            <a:ext cx="411480" cy="411480"/>
          </a:xfrm>
          <a:prstGeom prst="ellipse">
            <a:avLst/>
          </a:prstGeom>
          <a:solidFill>
            <a:srgbClr val="818CF8"/>
          </a:solidFill>
          <a:ln w="12700">
            <a:solidFill>
              <a:srgbClr val="818CF8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65760" y="2185416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02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562356" y="2606040"/>
            <a:ext cx="0" cy="256032"/>
          </a:xfrm>
          <a:prstGeom prst="line">
            <a:avLst/>
          </a:prstGeom>
          <a:noFill/>
          <a:ln w="19050">
            <a:solidFill>
              <a:srgbClr val="30363D"/>
            </a:solidFill>
            <a:prstDash val="sysDot"/>
          </a:ln>
        </p:spPr>
      </p:sp>
      <p:sp>
        <p:nvSpPr>
          <p:cNvPr id="12" name="Text 10"/>
          <p:cNvSpPr/>
          <p:nvPr/>
        </p:nvSpPr>
        <p:spPr>
          <a:xfrm>
            <a:off x="960120" y="2167128"/>
            <a:ext cx="3474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</a:rPr>
              <a:t>Select Assignment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960120" y="2459736"/>
            <a:ext cx="7772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8B949E"/>
                </a:solidFill>
              </a:rPr>
              <a:t>Navigate to a course, view all assignments with due dates and work types.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365760" y="2843784"/>
            <a:ext cx="411480" cy="411480"/>
          </a:xfrm>
          <a:prstGeom prst="ellipse">
            <a:avLst/>
          </a:prstGeom>
          <a:solidFill>
            <a:srgbClr val="818CF8"/>
          </a:solidFill>
          <a:ln w="12700">
            <a:solidFill>
              <a:srgbClr val="818CF8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2843784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03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562356" y="3264408"/>
            <a:ext cx="0" cy="256032"/>
          </a:xfrm>
          <a:prstGeom prst="line">
            <a:avLst/>
          </a:prstGeom>
          <a:noFill/>
          <a:ln w="19050">
            <a:solidFill>
              <a:srgbClr val="30363D"/>
            </a:solidFill>
            <a:prstDash val="sysDot"/>
          </a:ln>
        </p:spPr>
      </p:sp>
      <p:sp>
        <p:nvSpPr>
          <p:cNvPr id="17" name="Text 15"/>
          <p:cNvSpPr/>
          <p:nvPr/>
        </p:nvSpPr>
        <p:spPr>
          <a:xfrm>
            <a:off x="960120" y="2825496"/>
            <a:ext cx="3474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</a:rPr>
              <a:t>Click 'Grade with AI'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960120" y="3118104"/>
            <a:ext cx="7772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8B949E"/>
                </a:solidFill>
              </a:rPr>
              <a:t>System fetches all turned-in submissions and sends each to Gemini AI.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365760" y="3502152"/>
            <a:ext cx="411480" cy="411480"/>
          </a:xfrm>
          <a:prstGeom prst="ellipse">
            <a:avLst/>
          </a:prstGeom>
          <a:solidFill>
            <a:srgbClr val="818CF8"/>
          </a:solidFill>
          <a:ln w="12700">
            <a:solidFill>
              <a:srgbClr val="818CF8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65760" y="3502152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04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562356" y="3922776"/>
            <a:ext cx="0" cy="256032"/>
          </a:xfrm>
          <a:prstGeom prst="line">
            <a:avLst/>
          </a:prstGeom>
          <a:noFill/>
          <a:ln w="19050">
            <a:solidFill>
              <a:srgbClr val="30363D"/>
            </a:solidFill>
            <a:prstDash val="sysDot"/>
          </a:ln>
        </p:spPr>
      </p:sp>
      <p:sp>
        <p:nvSpPr>
          <p:cNvPr id="22" name="Text 20"/>
          <p:cNvSpPr/>
          <p:nvPr/>
        </p:nvSpPr>
        <p:spPr>
          <a:xfrm>
            <a:off x="960120" y="3483864"/>
            <a:ext cx="3474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</a:rPr>
              <a:t>View AI Results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960120" y="3776472"/>
            <a:ext cx="7772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8B949E"/>
                </a:solidFill>
              </a:rPr>
              <a:t>See score rings, rubric table with ✓/✗, feedback, strengths &amp; improvements.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365760" y="4160520"/>
            <a:ext cx="411480" cy="411480"/>
          </a:xfrm>
          <a:prstGeom prst="ellipse">
            <a:avLst/>
          </a:prstGeom>
          <a:solidFill>
            <a:srgbClr val="818CF8"/>
          </a:solidFill>
          <a:ln w="12700">
            <a:solidFill>
              <a:srgbClr val="818CF8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365760" y="416052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05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960120" y="4142232"/>
            <a:ext cx="3474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</a:rPr>
              <a:t>Grades </a:t>
            </a:r>
            <a:r>
              <a:rPr lang="en-US" sz="1300" b="1" dirty="0" smtClean="0">
                <a:solidFill>
                  <a:srgbClr val="FFFFFF"/>
                </a:solidFill>
              </a:rPr>
              <a:t>Posted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960120" y="4434840"/>
            <a:ext cx="7772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8B949E"/>
                </a:solidFill>
              </a:rPr>
              <a:t>Marks appear in Google Classroom gradebook — teacher can verify and adjust.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400" dirty="0">
                <a:solidFill>
                  <a:srgbClr val="6EE7B7"/>
                </a:solidFill>
              </a:rPr>
              <a:t>TECH STACK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594360"/>
            <a:ext cx="8229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Technologies Used</a:t>
            </a:r>
            <a:endParaRPr lang="en-US" sz="3600" dirty="0"/>
          </a:p>
        </p:txBody>
      </p:sp>
      <p:sp>
        <p:nvSpPr>
          <p:cNvPr id="4" name="Shape 2"/>
          <p:cNvSpPr/>
          <p:nvPr/>
        </p:nvSpPr>
        <p:spPr>
          <a:xfrm>
            <a:off x="365760" y="1508760"/>
            <a:ext cx="1920240" cy="1371600"/>
          </a:xfrm>
          <a:prstGeom prst="rect">
            <a:avLst/>
          </a:prstGeom>
          <a:solidFill>
            <a:srgbClr val="21262D"/>
          </a:solidFill>
          <a:ln w="12700">
            <a:solidFill>
              <a:srgbClr val="F59E0B"/>
            </a:solidFill>
            <a:prstDash val="solid"/>
          </a:ln>
          <a:effectLst>
            <a:outerShdw blurRad="127000" dist="38100" dir="8100000" algn="bl" rotWithShape="0">
              <a:srgbClr val="000000">
                <a:alpha val="30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365760" y="1600200"/>
            <a:ext cx="19202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dirty="0">
                <a:solidFill>
                  <a:srgbClr val="000000"/>
                </a:solidFill>
              </a:rPr>
              <a:t>🐍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365760" y="2167128"/>
            <a:ext cx="19202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59E0B"/>
                </a:solidFill>
              </a:rPr>
              <a:t>Python 3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365760" y="2514600"/>
            <a:ext cx="19202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8B949E"/>
                </a:solidFill>
              </a:rPr>
              <a:t>Backend language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2468880" y="1508760"/>
            <a:ext cx="1920240" cy="1371600"/>
          </a:xfrm>
          <a:prstGeom prst="rect">
            <a:avLst/>
          </a:prstGeom>
          <a:solidFill>
            <a:srgbClr val="21262D"/>
          </a:solidFill>
          <a:ln w="12700">
            <a:solidFill>
              <a:srgbClr val="6EE7B7"/>
            </a:solidFill>
            <a:prstDash val="solid"/>
          </a:ln>
          <a:effectLst>
            <a:outerShdw blurRad="127000" dist="38100" dir="8100000" algn="bl" rotWithShape="0">
              <a:srgbClr val="000000">
                <a:alpha val="30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2468880" y="1600200"/>
            <a:ext cx="19202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dirty="0">
                <a:solidFill>
                  <a:srgbClr val="000000"/>
                </a:solidFill>
              </a:rPr>
              <a:t>🌐</a:t>
            </a:r>
            <a:endParaRPr lang="en-US" sz="2600" dirty="0"/>
          </a:p>
        </p:txBody>
      </p:sp>
      <p:sp>
        <p:nvSpPr>
          <p:cNvPr id="10" name="Text 8"/>
          <p:cNvSpPr/>
          <p:nvPr/>
        </p:nvSpPr>
        <p:spPr>
          <a:xfrm>
            <a:off x="2468880" y="2167128"/>
            <a:ext cx="19202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6EE7B7"/>
                </a:solidFill>
              </a:rPr>
              <a:t>Flask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2468880" y="2514600"/>
            <a:ext cx="19202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8B949E"/>
                </a:solidFill>
              </a:rPr>
              <a:t>Web framework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4572000" y="1508760"/>
            <a:ext cx="1920240" cy="1371600"/>
          </a:xfrm>
          <a:prstGeom prst="rect">
            <a:avLst/>
          </a:prstGeom>
          <a:solidFill>
            <a:srgbClr val="21262D"/>
          </a:solidFill>
          <a:ln w="12700">
            <a:solidFill>
              <a:srgbClr val="22C55E"/>
            </a:solidFill>
            <a:prstDash val="solid"/>
          </a:ln>
          <a:effectLst>
            <a:outerShdw blurRad="127000" dist="38100" dir="8100000" algn="bl" rotWithShape="0">
              <a:srgbClr val="000000">
                <a:alpha val="30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4572000" y="1600200"/>
            <a:ext cx="19202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dirty="0">
                <a:solidFill>
                  <a:srgbClr val="000000"/>
                </a:solidFill>
              </a:rPr>
              <a:t>🏫</a:t>
            </a:r>
            <a:endParaRPr lang="en-US" sz="2600" dirty="0"/>
          </a:p>
        </p:txBody>
      </p:sp>
      <p:sp>
        <p:nvSpPr>
          <p:cNvPr id="14" name="Text 12"/>
          <p:cNvSpPr/>
          <p:nvPr/>
        </p:nvSpPr>
        <p:spPr>
          <a:xfrm>
            <a:off x="4572000" y="2167128"/>
            <a:ext cx="19202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22C55E"/>
                </a:solidFill>
              </a:rPr>
              <a:t>Google Classroom API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4572000" y="2514600"/>
            <a:ext cx="19202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8B949E"/>
                </a:solidFill>
              </a:rPr>
              <a:t>Course &amp; grade management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6675120" y="1508760"/>
            <a:ext cx="1920240" cy="1371600"/>
          </a:xfrm>
          <a:prstGeom prst="rect">
            <a:avLst/>
          </a:prstGeom>
          <a:solidFill>
            <a:srgbClr val="21262D"/>
          </a:solidFill>
          <a:ln w="12700">
            <a:solidFill>
              <a:srgbClr val="F472B6"/>
            </a:solidFill>
            <a:prstDash val="solid"/>
          </a:ln>
          <a:effectLst>
            <a:outerShdw blurRad="127000" dist="38100" dir="8100000" algn="bl" rotWithShape="0">
              <a:srgbClr val="000000">
                <a:alpha val="30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6675120" y="1600200"/>
            <a:ext cx="19202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dirty="0">
                <a:solidFill>
                  <a:srgbClr val="000000"/>
                </a:solidFill>
              </a:rPr>
              <a:t>💾</a:t>
            </a:r>
            <a:endParaRPr lang="en-US" sz="2600" dirty="0"/>
          </a:p>
        </p:txBody>
      </p:sp>
      <p:sp>
        <p:nvSpPr>
          <p:cNvPr id="18" name="Text 16"/>
          <p:cNvSpPr/>
          <p:nvPr/>
        </p:nvSpPr>
        <p:spPr>
          <a:xfrm>
            <a:off x="6675120" y="2167128"/>
            <a:ext cx="19202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472B6"/>
                </a:solidFill>
              </a:rPr>
              <a:t>Google Drive API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6675120" y="2514600"/>
            <a:ext cx="19202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8B949E"/>
                </a:solidFill>
              </a:rPr>
              <a:t>File download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365760" y="3108960"/>
            <a:ext cx="1920240" cy="1371600"/>
          </a:xfrm>
          <a:prstGeom prst="rect">
            <a:avLst/>
          </a:prstGeom>
          <a:solidFill>
            <a:srgbClr val="21262D"/>
          </a:solidFill>
          <a:ln w="12700">
            <a:solidFill>
              <a:srgbClr val="818CF8"/>
            </a:solidFill>
            <a:prstDash val="solid"/>
          </a:ln>
          <a:effectLst>
            <a:outerShdw blurRad="127000" dist="38100" dir="8100000" algn="bl" rotWithShape="0">
              <a:srgbClr val="000000">
                <a:alpha val="30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365760" y="3200400"/>
            <a:ext cx="19202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dirty="0">
                <a:solidFill>
                  <a:srgbClr val="000000"/>
                </a:solidFill>
              </a:rPr>
              <a:t>🤖</a:t>
            </a:r>
            <a:endParaRPr lang="en-US" sz="2600" dirty="0"/>
          </a:p>
        </p:txBody>
      </p:sp>
      <p:sp>
        <p:nvSpPr>
          <p:cNvPr id="22" name="Text 20"/>
          <p:cNvSpPr/>
          <p:nvPr/>
        </p:nvSpPr>
        <p:spPr>
          <a:xfrm>
            <a:off x="365760" y="3767328"/>
            <a:ext cx="19202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818CF8"/>
                </a:solidFill>
              </a:rPr>
              <a:t>Gemini 2.5 Flash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365760" y="4114800"/>
            <a:ext cx="19202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8B949E"/>
                </a:solidFill>
              </a:rPr>
              <a:t>AI grading engine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2468880" y="3108960"/>
            <a:ext cx="1920240" cy="1371600"/>
          </a:xfrm>
          <a:prstGeom prst="rect">
            <a:avLst/>
          </a:prstGeom>
          <a:solidFill>
            <a:srgbClr val="21262D"/>
          </a:solidFill>
          <a:ln w="12700">
            <a:solidFill>
              <a:srgbClr val="F97316"/>
            </a:solidFill>
            <a:prstDash val="solid"/>
          </a:ln>
          <a:effectLst>
            <a:outerShdw blurRad="127000" dist="38100" dir="8100000" algn="bl" rotWithShape="0">
              <a:srgbClr val="000000">
                <a:alpha val="30000"/>
              </a:srgbClr>
            </a:outerShdw>
          </a:effectLst>
        </p:spPr>
      </p:sp>
      <p:sp>
        <p:nvSpPr>
          <p:cNvPr id="25" name="Text 23"/>
          <p:cNvSpPr/>
          <p:nvPr/>
        </p:nvSpPr>
        <p:spPr>
          <a:xfrm>
            <a:off x="2468880" y="3200400"/>
            <a:ext cx="19202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dirty="0">
                <a:solidFill>
                  <a:srgbClr val="000000"/>
                </a:solidFill>
              </a:rPr>
              <a:t>🔐</a:t>
            </a:r>
            <a:endParaRPr lang="en-US" sz="2600" dirty="0"/>
          </a:p>
        </p:txBody>
      </p:sp>
      <p:sp>
        <p:nvSpPr>
          <p:cNvPr id="26" name="Text 24"/>
          <p:cNvSpPr/>
          <p:nvPr/>
        </p:nvSpPr>
        <p:spPr>
          <a:xfrm>
            <a:off x="2468880" y="3767328"/>
            <a:ext cx="19202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97316"/>
                </a:solidFill>
              </a:rPr>
              <a:t>OAuth 2.0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2468880" y="4114800"/>
            <a:ext cx="19202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8B949E"/>
                </a:solidFill>
              </a:rPr>
              <a:t>Secure authentication</a:t>
            </a:r>
            <a:endParaRPr lang="en-US" sz="950" dirty="0"/>
          </a:p>
        </p:txBody>
      </p:sp>
      <p:sp>
        <p:nvSpPr>
          <p:cNvPr id="28" name="Shape 26"/>
          <p:cNvSpPr/>
          <p:nvPr/>
        </p:nvSpPr>
        <p:spPr>
          <a:xfrm>
            <a:off x="4572000" y="3108960"/>
            <a:ext cx="1920240" cy="1371600"/>
          </a:xfrm>
          <a:prstGeom prst="rect">
            <a:avLst/>
          </a:prstGeom>
          <a:solidFill>
            <a:srgbClr val="21262D"/>
          </a:solidFill>
          <a:ln w="12700">
            <a:solidFill>
              <a:srgbClr val="8B949E"/>
            </a:solidFill>
            <a:prstDash val="solid"/>
          </a:ln>
          <a:effectLst>
            <a:outerShdw blurRad="127000" dist="38100" dir="8100000" algn="bl" rotWithShape="0">
              <a:srgbClr val="000000">
                <a:alpha val="30000"/>
              </a:srgbClr>
            </a:outerShdw>
          </a:effectLst>
        </p:spPr>
      </p:sp>
      <p:sp>
        <p:nvSpPr>
          <p:cNvPr id="29" name="Text 27"/>
          <p:cNvSpPr/>
          <p:nvPr/>
        </p:nvSpPr>
        <p:spPr>
          <a:xfrm>
            <a:off x="4572000" y="3200400"/>
            <a:ext cx="19202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dirty="0">
                <a:solidFill>
                  <a:srgbClr val="000000"/>
                </a:solidFill>
              </a:rPr>
              <a:t>📦</a:t>
            </a:r>
            <a:endParaRPr lang="en-US" sz="2600" dirty="0"/>
          </a:p>
        </p:txBody>
      </p:sp>
      <p:sp>
        <p:nvSpPr>
          <p:cNvPr id="30" name="Text 28"/>
          <p:cNvSpPr/>
          <p:nvPr/>
        </p:nvSpPr>
        <p:spPr>
          <a:xfrm>
            <a:off x="4572000" y="3767328"/>
            <a:ext cx="19202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8B949E"/>
                </a:solidFill>
              </a:rPr>
              <a:t>PyPDF2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4572000" y="4114800"/>
            <a:ext cx="19202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8B949E"/>
                </a:solidFill>
              </a:rPr>
              <a:t>PDF text extraction</a:t>
            </a:r>
            <a:endParaRPr lang="en-US" sz="950" dirty="0"/>
          </a:p>
        </p:txBody>
      </p:sp>
      <p:sp>
        <p:nvSpPr>
          <p:cNvPr id="33" name="Text 31"/>
          <p:cNvSpPr/>
          <p:nvPr/>
        </p:nvSpPr>
        <p:spPr>
          <a:xfrm>
            <a:off x="6675120" y="3200400"/>
            <a:ext cx="19202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dirty="0">
                <a:solidFill>
                  <a:srgbClr val="000000"/>
                </a:solidFill>
              </a:rPr>
              <a:t>🔗</a:t>
            </a:r>
            <a:endParaRPr lang="en-US" sz="26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400" dirty="0">
                <a:solidFill>
                  <a:srgbClr val="6EE7B7"/>
                </a:solidFill>
              </a:rPr>
              <a:t>IMPACT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594360"/>
            <a:ext cx="8229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Results &amp; Impact</a:t>
            </a:r>
            <a:endParaRPr lang="en-US" sz="3600" dirty="0"/>
          </a:p>
        </p:txBody>
      </p:sp>
      <p:sp>
        <p:nvSpPr>
          <p:cNvPr id="4" name="Shape 2"/>
          <p:cNvSpPr/>
          <p:nvPr/>
        </p:nvSpPr>
        <p:spPr>
          <a:xfrm>
            <a:off x="365760" y="1508760"/>
            <a:ext cx="1920240" cy="1828800"/>
          </a:xfrm>
          <a:prstGeom prst="rect">
            <a:avLst/>
          </a:prstGeom>
          <a:solidFill>
            <a:srgbClr val="21262D"/>
          </a:solidFill>
          <a:ln w="25400">
            <a:solidFill>
              <a:srgbClr val="6EE7B7"/>
            </a:solidFill>
            <a:prstDash val="solid"/>
          </a:ln>
          <a:effectLst>
            <a:outerShdw blurRad="127000" dist="38100" dir="8100000" algn="bl" rotWithShape="0">
              <a:srgbClr val="000000">
                <a:alpha val="3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365760" y="1508760"/>
            <a:ext cx="1920240" cy="64008"/>
          </a:xfrm>
          <a:prstGeom prst="rect">
            <a:avLst/>
          </a:prstGeom>
          <a:solidFill>
            <a:srgbClr val="6EE7B7"/>
          </a:solidFill>
          <a:ln w="12700">
            <a:solidFill>
              <a:srgbClr val="6EE7B7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65760" y="1691640"/>
            <a:ext cx="19202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800" b="1" dirty="0">
                <a:solidFill>
                  <a:srgbClr val="6EE7B7"/>
                </a:solidFill>
              </a:rPr>
              <a:t>~5s</a:t>
            </a:r>
            <a:endParaRPr lang="en-US" sz="3800" dirty="0"/>
          </a:p>
        </p:txBody>
      </p:sp>
      <p:sp>
        <p:nvSpPr>
          <p:cNvPr id="7" name="Text 5"/>
          <p:cNvSpPr/>
          <p:nvPr/>
        </p:nvSpPr>
        <p:spPr>
          <a:xfrm>
            <a:off x="365760" y="2468880"/>
            <a:ext cx="19202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Per Submission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365760" y="2834640"/>
            <a:ext cx="19202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8B949E"/>
                </a:solidFill>
              </a:rPr>
              <a:t>vs 10+ min manual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2468880" y="1508760"/>
            <a:ext cx="1920240" cy="1828800"/>
          </a:xfrm>
          <a:prstGeom prst="rect">
            <a:avLst/>
          </a:prstGeom>
          <a:solidFill>
            <a:srgbClr val="21262D"/>
          </a:solidFill>
          <a:ln w="25400">
            <a:solidFill>
              <a:srgbClr val="818CF8"/>
            </a:solidFill>
            <a:prstDash val="solid"/>
          </a:ln>
          <a:effectLst>
            <a:outerShdw blurRad="127000" dist="38100" dir="8100000" algn="bl" rotWithShape="0">
              <a:srgbClr val="000000">
                <a:alpha val="30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2468880" y="1508760"/>
            <a:ext cx="1920240" cy="64008"/>
          </a:xfrm>
          <a:prstGeom prst="rect">
            <a:avLst/>
          </a:prstGeom>
          <a:solidFill>
            <a:srgbClr val="818CF8"/>
          </a:solidFill>
          <a:ln w="12700">
            <a:solidFill>
              <a:srgbClr val="818CF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468880" y="1691640"/>
            <a:ext cx="19202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800" b="1" dirty="0">
                <a:solidFill>
                  <a:srgbClr val="818CF8"/>
                </a:solidFill>
              </a:rPr>
              <a:t>99%</a:t>
            </a:r>
            <a:endParaRPr lang="en-US" sz="3800" dirty="0"/>
          </a:p>
        </p:txBody>
      </p:sp>
      <p:sp>
        <p:nvSpPr>
          <p:cNvPr id="12" name="Text 10"/>
          <p:cNvSpPr/>
          <p:nvPr/>
        </p:nvSpPr>
        <p:spPr>
          <a:xfrm>
            <a:off x="2468880" y="2468880"/>
            <a:ext cx="19202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Consistency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2468880" y="2834640"/>
            <a:ext cx="19202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8B949E"/>
                </a:solidFill>
              </a:rPr>
              <a:t>No grader fatigue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4572000" y="1508760"/>
            <a:ext cx="1920240" cy="1828800"/>
          </a:xfrm>
          <a:prstGeom prst="rect">
            <a:avLst/>
          </a:prstGeom>
          <a:solidFill>
            <a:srgbClr val="21262D"/>
          </a:solidFill>
          <a:ln w="25400">
            <a:solidFill>
              <a:srgbClr val="22C55E"/>
            </a:solidFill>
            <a:prstDash val="solid"/>
          </a:ln>
          <a:effectLst>
            <a:outerShdw blurRad="127000" dist="38100" dir="8100000" algn="bl" rotWithShape="0">
              <a:srgbClr val="000000">
                <a:alpha val="30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4572000" y="1508760"/>
            <a:ext cx="1920240" cy="64008"/>
          </a:xfrm>
          <a:prstGeom prst="rect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572000" y="1691640"/>
            <a:ext cx="19202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800" b="1" dirty="0">
                <a:solidFill>
                  <a:srgbClr val="22C55E"/>
                </a:solidFill>
              </a:rPr>
              <a:t>$0.30</a:t>
            </a:r>
            <a:endParaRPr lang="en-US" sz="3800" dirty="0"/>
          </a:p>
        </p:txBody>
      </p:sp>
      <p:sp>
        <p:nvSpPr>
          <p:cNvPr id="17" name="Text 15"/>
          <p:cNvSpPr/>
          <p:nvPr/>
        </p:nvSpPr>
        <p:spPr>
          <a:xfrm>
            <a:off x="4572000" y="2468880"/>
            <a:ext cx="19202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Per 1000 Grades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4572000" y="2834640"/>
            <a:ext cx="19202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8B949E"/>
                </a:solidFill>
              </a:rPr>
              <a:t>Extremely affordable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6675120" y="1508760"/>
            <a:ext cx="1920240" cy="1828800"/>
          </a:xfrm>
          <a:prstGeom prst="rect">
            <a:avLst/>
          </a:prstGeom>
          <a:solidFill>
            <a:srgbClr val="21262D"/>
          </a:solidFill>
          <a:ln w="25400">
            <a:solidFill>
              <a:srgbClr val="F59E0B"/>
            </a:solidFill>
            <a:prstDash val="solid"/>
          </a:ln>
          <a:effectLst>
            <a:outerShdw blurRad="127000" dist="38100" dir="8100000" algn="bl" rotWithShape="0">
              <a:srgbClr val="000000">
                <a:alpha val="30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6675120" y="1508760"/>
            <a:ext cx="1920240" cy="64008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675120" y="1691640"/>
            <a:ext cx="19202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800" b="1" dirty="0">
                <a:solidFill>
                  <a:srgbClr val="F59E0B"/>
                </a:solidFill>
              </a:rPr>
              <a:t>24/7</a:t>
            </a:r>
            <a:endParaRPr lang="en-US" sz="3800" dirty="0"/>
          </a:p>
        </p:txBody>
      </p:sp>
      <p:sp>
        <p:nvSpPr>
          <p:cNvPr id="22" name="Text 20"/>
          <p:cNvSpPr/>
          <p:nvPr/>
        </p:nvSpPr>
        <p:spPr>
          <a:xfrm>
            <a:off x="6675120" y="2468880"/>
            <a:ext cx="19202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Availability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6675120" y="2834640"/>
            <a:ext cx="19202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8B949E"/>
                </a:solidFill>
              </a:rPr>
              <a:t>Always online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365760" y="3657600"/>
            <a:ext cx="8412480" cy="1188720"/>
          </a:xfrm>
          <a:prstGeom prst="rect">
            <a:avLst/>
          </a:prstGeom>
          <a:solidFill>
            <a:srgbClr val="21262D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40080" y="3749040"/>
            <a:ext cx="27432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EF4444"/>
                </a:solidFill>
              </a:rPr>
              <a:t>Before GradeAI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640080" y="4096512"/>
            <a:ext cx="32004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8B949E"/>
                </a:solidFill>
              </a:rPr>
              <a:t>✗  Hours per assignment  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8B949E"/>
                </a:solidFill>
              </a:rPr>
              <a:t>✗  Inconsistent marks  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8B949E"/>
                </a:solidFill>
              </a:rPr>
              <a:t>✗  Days to return feedback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4572000" y="3749040"/>
            <a:ext cx="0" cy="1005840"/>
          </a:xfrm>
          <a:prstGeom prst="line">
            <a:avLst/>
          </a:prstGeom>
          <a:noFill/>
          <a:ln w="12700">
            <a:solidFill>
              <a:srgbClr val="30363D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846320" y="3749040"/>
            <a:ext cx="27432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2C55E"/>
                </a:solidFill>
              </a:rPr>
              <a:t>With GradeAI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4846320" y="4096512"/>
            <a:ext cx="34747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8B949E"/>
                </a:solidFill>
              </a:rPr>
              <a:t>✓  Seconds per submission  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8B949E"/>
                </a:solidFill>
              </a:rPr>
              <a:t>✓  Consistent AI evaluation  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8B949E"/>
                </a:solidFill>
              </a:rPr>
              <a:t>✓  Instant detailed feedback</a:t>
            </a:r>
            <a:endParaRPr lang="en-US" sz="11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928467" y="-914400"/>
            <a:ext cx="4572000" cy="4572000"/>
          </a:xfrm>
          <a:prstGeom prst="ellipse">
            <a:avLst/>
          </a:prstGeom>
          <a:solidFill>
            <a:srgbClr val="818CF8">
              <a:alpha val="18000"/>
            </a:srgbClr>
          </a:solidFill>
          <a:ln w="12700">
            <a:solidFill>
              <a:srgbClr val="818CF8">
                <a:alpha val="18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400800" y="2286000"/>
            <a:ext cx="3657600" cy="3657600"/>
          </a:xfrm>
          <a:prstGeom prst="ellipse">
            <a:avLst/>
          </a:prstGeom>
          <a:solidFill>
            <a:srgbClr val="6EE7B7">
              <a:alpha val="15000"/>
            </a:srgbClr>
          </a:solidFill>
          <a:ln w="12700">
            <a:solidFill>
              <a:srgbClr val="6EE7B7">
                <a:alpha val="1500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474720" y="457200"/>
            <a:ext cx="21945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800" dirty="0">
                <a:solidFill>
                  <a:srgbClr val="000000"/>
                </a:solidFill>
              </a:rPr>
              <a:t>🎓</a:t>
            </a:r>
            <a:endParaRPr lang="en-US" sz="4800" dirty="0"/>
          </a:p>
        </p:txBody>
      </p:sp>
      <p:sp>
        <p:nvSpPr>
          <p:cNvPr id="5" name="Text 3"/>
          <p:cNvSpPr/>
          <p:nvPr/>
        </p:nvSpPr>
        <p:spPr>
          <a:xfrm>
            <a:off x="914400" y="1371600"/>
            <a:ext cx="73152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5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Thank You!</a:t>
            </a:r>
            <a:endParaRPr lang="en-US" sz="5600" dirty="0"/>
          </a:p>
        </p:txBody>
      </p:sp>
      <p:sp>
        <p:nvSpPr>
          <p:cNvPr id="7" name="Shape 5"/>
          <p:cNvSpPr/>
          <p:nvPr/>
        </p:nvSpPr>
        <p:spPr>
          <a:xfrm>
            <a:off x="2743200" y="2971800"/>
            <a:ext cx="3657600" cy="0"/>
          </a:xfrm>
          <a:prstGeom prst="line">
            <a:avLst/>
          </a:prstGeom>
          <a:noFill/>
          <a:ln w="12700">
            <a:solidFill>
              <a:srgbClr val="30363D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914400" y="3200400"/>
            <a:ext cx="7315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6EE7B7"/>
                </a:solidFill>
              </a:rPr>
              <a:t>GradeAI  </a:t>
            </a:r>
            <a:r>
              <a:rPr lang="en-US" sz="1300" dirty="0">
                <a:solidFill>
                  <a:srgbClr val="8B949E"/>
                </a:solidFill>
              </a:rPr>
              <a:t>— AI-Powered Google Classroom Grading System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1005840" y="3794760"/>
            <a:ext cx="1645920" cy="329184"/>
          </a:xfrm>
          <a:prstGeom prst="roundRect">
            <a:avLst>
              <a:gd name="adj" fmla="val 22222"/>
            </a:avLst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005840" y="3794760"/>
            <a:ext cx="16459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8B949E"/>
                </a:solidFill>
              </a:rPr>
              <a:t>Python + Flask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2788920" y="3794760"/>
            <a:ext cx="1645920" cy="329184"/>
          </a:xfrm>
          <a:prstGeom prst="roundRect">
            <a:avLst>
              <a:gd name="adj" fmla="val 22222"/>
            </a:avLst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788920" y="3794760"/>
            <a:ext cx="16459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8B949E"/>
                </a:solidFill>
              </a:rPr>
              <a:t>Google Classroom API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4572000" y="3794760"/>
            <a:ext cx="1645920" cy="329184"/>
          </a:xfrm>
          <a:prstGeom prst="roundRect">
            <a:avLst>
              <a:gd name="adj" fmla="val 22222"/>
            </a:avLst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572000" y="3794760"/>
            <a:ext cx="16459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8B949E"/>
                </a:solidFill>
              </a:rPr>
              <a:t>Gemini 2.5 Flash AI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6355080" y="3794760"/>
            <a:ext cx="1645920" cy="329184"/>
          </a:xfrm>
          <a:prstGeom prst="roundRect">
            <a:avLst>
              <a:gd name="adj" fmla="val 22222"/>
            </a:avLst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355080" y="3794760"/>
            <a:ext cx="16459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8B949E"/>
                </a:solidFill>
              </a:rPr>
              <a:t>OAuth 2.0</a:t>
            </a:r>
            <a:endParaRPr lang="en-US" sz="1050" dirty="0"/>
          </a:p>
        </p:txBody>
      </p:sp>
      <p:sp>
        <p:nvSpPr>
          <p:cNvPr id="17" name="Text 15"/>
          <p:cNvSpPr/>
          <p:nvPr/>
        </p:nvSpPr>
        <p:spPr>
          <a:xfrm>
            <a:off x="914400" y="466344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8B949E"/>
                </a:solidFill>
              </a:rPr>
              <a:t>Built with ❤️ using Python, Flask &amp; Gemini AI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</TotalTime>
  <Words>573</Words>
  <Application>Microsoft Office PowerPoint</Application>
  <PresentationFormat>On-screen Show (16:9)</PresentationFormat>
  <Paragraphs>173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GradeAI — AI-Powered Grading System</dc:title>
  <dc:subject>PptxGenJS Presentation</dc:subject>
  <dc:creator>PptxGenJS</dc:creator>
  <cp:lastModifiedBy>Shahzaib</cp:lastModifiedBy>
  <cp:revision>3</cp:revision>
  <dcterms:created xsi:type="dcterms:W3CDTF">2026-05-11T08:55:26Z</dcterms:created>
  <dcterms:modified xsi:type="dcterms:W3CDTF">2026-05-11T09:05:09Z</dcterms:modified>
</cp:coreProperties>
</file>